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MTM (₹)</c:v>
                </c:pt>
              </c:strCache>
            </c:strRef>
          </c:tx>
          <c:spPr>
            <a:solidFill>
              <a:srgbClr val="1A1A1A"/>
            </a:solidFill>
            <a:ln w="31750" cap="flat">
              <a:solidFill>
                <a:srgbClr val="1A1A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A1A1A"/>
              </a:solidFill>
              <a:ln w="9525" cap="flat">
                <a:solidFill>
                  <a:srgbClr val="1A1A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Sep</c:v>
                  </c:pt>
                  <c:pt idx="1">
                    <c:v>Oct</c:v>
                  </c:pt>
                  <c:pt idx="2">
                    <c:v>Nov</c:v>
                  </c:pt>
                  <c:pt idx="3">
                    <c:v>Dec</c:v>
                  </c:pt>
                  <c:pt idx="4">
                    <c:v>Jan</c:v>
                  </c:pt>
                  <c:pt idx="5">
                    <c:v>Feb</c:v>
                  </c:pt>
                  <c:pt idx="6">
                    <c:v>Mar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52280</c:v>
                </c:pt>
                <c:pt idx="1">
                  <c:v>1136217</c:v>
                </c:pt>
                <c:pt idx="2">
                  <c:v>1110669</c:v>
                </c:pt>
                <c:pt idx="3">
                  <c:v>720283</c:v>
                </c:pt>
                <c:pt idx="4">
                  <c:v>1987532</c:v>
                </c:pt>
                <c:pt idx="5">
                  <c:v>1684814</c:v>
                </c:pt>
                <c:pt idx="6">
                  <c:v>225463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08792" cy="5577840"/>
          </a:xfrm>
          <a:prstGeom prst="rect">
            <a:avLst/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2331720"/>
            <a:ext cx="9994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DATA MANAGEMENT SYSTEM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97280" y="3429000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Cashflow &amp; Ledger Tracking Platform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824728" y="4160520"/>
            <a:ext cx="82296" cy="82296"/>
          </a:xfrm>
          <a:prstGeom prst="ellipse">
            <a:avLst/>
          </a:prstGeom>
          <a:solidFill>
            <a:srgbClr val="8A8A8A"/>
          </a:solidFill>
          <a:ln/>
        </p:spPr>
      </p:sp>
      <p:sp>
        <p:nvSpPr>
          <p:cNvPr id="6" name="Shape 4"/>
          <p:cNvSpPr/>
          <p:nvPr/>
        </p:nvSpPr>
        <p:spPr>
          <a:xfrm>
            <a:off x="6053328" y="4160520"/>
            <a:ext cx="82296" cy="82296"/>
          </a:xfrm>
          <a:prstGeom prst="ellipse">
            <a:avLst/>
          </a:prstGeom>
          <a:solidFill>
            <a:srgbClr val="8A8A8A"/>
          </a:solidFill>
          <a:ln/>
        </p:spPr>
      </p:sp>
      <p:sp>
        <p:nvSpPr>
          <p:cNvPr id="7" name="Shape 5"/>
          <p:cNvSpPr/>
          <p:nvPr/>
        </p:nvSpPr>
        <p:spPr>
          <a:xfrm>
            <a:off x="6281928" y="4160520"/>
            <a:ext cx="82296" cy="82296"/>
          </a:xfrm>
          <a:prstGeom prst="ellipse">
            <a:avLst/>
          </a:prstGeom>
          <a:solidFill>
            <a:srgbClr val="8A8A8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434840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Records   •   Cash Flow Tracking   •   Trade &amp; Ledger Reconciliation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5852160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structured system is needed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19659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0848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Records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487168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cash movements, trades, and balances tracked across disconnected spreadsheets.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5120640" cy="19659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10312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0" y="20848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Reconciliation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0" y="2487168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cash-in / cash-out figures matched by hand, prone to human error.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120640" cy="19659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38912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3708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View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773168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place to see a client's investment, MTM, and free cash balance together.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4114800"/>
            <a:ext cx="5120640" cy="19659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38912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40880" y="43708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Reporting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4773168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a client's cash-flow history takes hours instead of seconds.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Data Management System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is designed to achieve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82296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00200" y="19202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every client's cash and trade records in one database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600200" y="2880360"/>
            <a:ext cx="96926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971800"/>
            <a:ext cx="82296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71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00200" y="29260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daily cash-flow and free-balance calculations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600200" y="3886200"/>
            <a:ext cx="96926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977640"/>
            <a:ext cx="82296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77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00200" y="39319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investment amount, MTM, and cumulative MTM per client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600200" y="4892040"/>
            <a:ext cx="96926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983480"/>
            <a:ext cx="82296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83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00200" y="49377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clean, reliable ledger for reconciliation and audit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Data Management System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flows through the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22376" y="2286000"/>
            <a:ext cx="3063240" cy="31089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Text 3"/>
          <p:cNvSpPr/>
          <p:nvPr/>
        </p:nvSpPr>
        <p:spPr>
          <a:xfrm>
            <a:off x="950976" y="2514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50976" y="3017520"/>
            <a:ext cx="260604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3154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Onboarding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50976" y="36850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Cash Entries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50976" y="421538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/ MTM Feeds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895344" y="3520440"/>
            <a:ext cx="55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562856" y="2286000"/>
            <a:ext cx="3063240" cy="3108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791456" y="2514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91456" y="3017520"/>
            <a:ext cx="26060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3154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91456" y="36850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cash_record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91456" y="421538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trade_data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91456" y="47457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(apricus)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35824" y="3520440"/>
            <a:ext cx="55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8403336" y="2286000"/>
            <a:ext cx="3063240" cy="31089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0" name="Text 18"/>
          <p:cNvSpPr/>
          <p:nvPr/>
        </p:nvSpPr>
        <p:spPr>
          <a:xfrm>
            <a:off x="8631936" y="2514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631936" y="3017520"/>
            <a:ext cx="260604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31936" y="3154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Verification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631936" y="36850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Cash-Flow Reports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631936" y="421538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Ledger View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Data Management System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core tables power the entire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51760" cy="5943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2651760" cy="32461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7432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client_id (PK)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mail_id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46634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login_id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56432" y="1874520"/>
            <a:ext cx="2651760" cy="5943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3456432" y="1874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cash_record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456432" y="2468880"/>
            <a:ext cx="2651760" cy="32461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4" name="Text 12"/>
          <p:cNvSpPr/>
          <p:nvPr/>
        </p:nvSpPr>
        <p:spPr>
          <a:xfrm>
            <a:off x="3639312" y="27432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id, name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39312" y="33832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funds_added / withdrawn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39312" y="40233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 &amp; current cash bal.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39312" y="46634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64224" y="1874520"/>
            <a:ext cx="2651760" cy="5943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6364224" y="1874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trade_data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64224" y="2468880"/>
            <a:ext cx="2651760" cy="32461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1" name="Text 19"/>
          <p:cNvSpPr/>
          <p:nvPr/>
        </p:nvSpPr>
        <p:spPr>
          <a:xfrm>
            <a:off x="6547104" y="27432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id, name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47104" y="33832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amount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47104" y="40233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MTM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47104" y="46634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MTM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272016" y="1874520"/>
            <a:ext cx="2651760" cy="5943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9272016" y="1874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(apricus)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272016" y="2468880"/>
            <a:ext cx="2651760" cy="32461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8" name="Text 26"/>
          <p:cNvSpPr/>
          <p:nvPr/>
        </p:nvSpPr>
        <p:spPr>
          <a:xfrm>
            <a:off x="9454896" y="27432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cash + trade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454896" y="33832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investment, funds, MTM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454896" y="40233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cash, difference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454896" y="46634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MTM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Data Management System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Client Performance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MTM tracked month-on-month for a sample client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85039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9281160" y="1691640"/>
            <a:ext cx="2377440" cy="44805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6" name="Text 3"/>
          <p:cNvSpPr/>
          <p:nvPr/>
        </p:nvSpPr>
        <p:spPr>
          <a:xfrm>
            <a:off x="950976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509760" y="2331720"/>
            <a:ext cx="1920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trade's mark-to-market gain or loss is captured daily and rolled up automatically — giving a running picture of client performance without manual spreadsheet work.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Data Management System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10515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scattered spreadsheets with a single structured database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cash-flow and trade reconciliation across all clients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 clear, auditable ledger of every financial movement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0936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09360" y="214884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with real-time cash-flow visualizations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alerts for negative balances or large drawdowns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4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for admins, analysts, and clients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5394960"/>
            <a:ext cx="10515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623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2026-08-25T07:31:35Z</dcterms:created>
  <dcterms:modified xsi:type="dcterms:W3CDTF">2026-08-25T07:31:35Z</dcterms:modified>
</cp:coreProperties>
</file>